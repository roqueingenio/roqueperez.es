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enz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cd59000-7d1c-5592-bef8-7344a20ec032/scratchpad/lienzo/assets/marca_ag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9540" y="1463040"/>
            <a:ext cx="3490256" cy="5029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63774" y="6876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Plantilla elaborada por</a:t>
            </a:r>
            <a:endParaRPr lang="en-US" sz="1000" dirty="0"/>
          </a:p>
        </p:txBody>
      </p:sp>
      <p:pic>
        <p:nvPicPr>
          <p:cNvPr id="4" name="Image 1" descr="Ingenio Le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454" y="6876288"/>
            <a:ext cx="1256682" cy="2743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384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Lienzo de Proyecto Lean</a:t>
            </a:r>
            <a:endParaRPr lang="en-US" sz="2800" dirty="0"/>
          </a:p>
        </p:txBody>
      </p:sp>
      <p:sp>
        <p:nvSpPr>
          <p:cNvPr id="3" name="Subtítulo"/>
          <p:cNvSpPr txBox="1"/>
          <p:nvPr/>
        </p:nvSpPr>
        <p:spPr>
          <a:xfrm>
            <a:off x="457200" y="841248"/>
            <a:ext cx="9774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Cómo rellenarlo: sigue el orden de los números. Primero el problema, después la solución y al final los números del proyecto.</a:t>
            </a:r>
            <a:endParaRPr lang="en-US" sz="1200" dirty="0"/>
          </a:p>
        </p:txBody>
      </p:sp>
      <p:sp>
        <p:nvSpPr>
          <p:cNvPr id="4" name="Cuadro 1 - Área analizada"/>
          <p:cNvSpPr/>
          <p:nvPr/>
        </p:nvSpPr>
        <p:spPr>
          <a:xfrm>
            <a:off x="457200" y="1325880"/>
            <a:ext cx="1881835" cy="3611880"/>
          </a:xfrm>
          <a:prstGeom prst="roundRect">
            <a:avLst>
              <a:gd name="adj" fmla="val 3887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5" name="Número 1"/>
          <p:cNvSpPr/>
          <p:nvPr/>
        </p:nvSpPr>
        <p:spPr>
          <a:xfrm>
            <a:off x="566928" y="14356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ítulo 1"/>
          <p:cNvSpPr txBox="1"/>
          <p:nvPr/>
        </p:nvSpPr>
        <p:spPr>
          <a:xfrm>
            <a:off x="987552" y="1435608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ÁREA ANALIZADA</a:t>
            </a:r>
            <a:endParaRPr lang="en-US" sz="1100" dirty="0"/>
          </a:p>
        </p:txBody>
      </p:sp>
      <p:sp>
        <p:nvSpPr>
          <p:cNvPr id="8" name="Guía 1"/>
          <p:cNvSpPr txBox="1"/>
          <p:nvPr/>
        </p:nvSpPr>
        <p:spPr>
          <a:xfrm>
            <a:off x="585216" y="1874520"/>
            <a:ext cx="1625803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Delimita el alcance: áreas, máquinas, piezas, referencias o procesos que entran en el proyecto.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chemeClr val="accent5"/>
                </a:solidFill>
              </a:rPr>
              <a:t>¿Dónde empieza y dónde acaba?</a:t>
            </a:r>
            <a:endParaRPr lang="en-US" sz="1150" dirty="0"/>
          </a:p>
        </p:txBody>
      </p:sp>
      <p:sp>
        <p:nvSpPr>
          <p:cNvPr id="9" name="Cuadro 2 - Problema"/>
          <p:cNvSpPr/>
          <p:nvPr/>
        </p:nvSpPr>
        <p:spPr>
          <a:xfrm>
            <a:off x="2430475" y="1325880"/>
            <a:ext cx="1881835" cy="3611880"/>
          </a:xfrm>
          <a:prstGeom prst="roundRect">
            <a:avLst>
              <a:gd name="adj" fmla="val 3887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10" name="Número 2"/>
          <p:cNvSpPr/>
          <p:nvPr/>
        </p:nvSpPr>
        <p:spPr>
          <a:xfrm>
            <a:off x="2540203" y="14356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40203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ítulo 2"/>
          <p:cNvSpPr txBox="1"/>
          <p:nvPr/>
        </p:nvSpPr>
        <p:spPr>
          <a:xfrm>
            <a:off x="2960827" y="1435608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PROBLEMA</a:t>
            </a:r>
            <a:endParaRPr lang="en-US" sz="1100" dirty="0"/>
          </a:p>
        </p:txBody>
      </p:sp>
      <p:sp>
        <p:nvSpPr>
          <p:cNvPr id="13" name="Guía 2"/>
          <p:cNvSpPr txBox="1"/>
          <p:nvPr/>
        </p:nvSpPr>
        <p:spPr>
          <a:xfrm>
            <a:off x="2558491" y="1874520"/>
            <a:ext cx="1625803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Los 3 problemas principales, numerados de más a menos grave.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chemeClr val="accent5"/>
                </a:solidFill>
              </a:rPr>
              <a:t>¿Cómo se están resolviendo ahora y cuánto cuesta?</a:t>
            </a:r>
            <a:endParaRPr lang="en-US" sz="1150" dirty="0"/>
          </a:p>
        </p:txBody>
      </p:sp>
      <p:sp>
        <p:nvSpPr>
          <p:cNvPr id="14" name="Cuadro 3 - Solución"/>
          <p:cNvSpPr/>
          <p:nvPr/>
        </p:nvSpPr>
        <p:spPr>
          <a:xfrm>
            <a:off x="4403750" y="1325880"/>
            <a:ext cx="1881835" cy="1760220"/>
          </a:xfrm>
          <a:prstGeom prst="roundRect">
            <a:avLst>
              <a:gd name="adj" fmla="val 4156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15" name="Número 3"/>
          <p:cNvSpPr/>
          <p:nvPr/>
        </p:nvSpPr>
        <p:spPr>
          <a:xfrm>
            <a:off x="4513478" y="14356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1347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ítulo 3"/>
          <p:cNvSpPr txBox="1"/>
          <p:nvPr/>
        </p:nvSpPr>
        <p:spPr>
          <a:xfrm>
            <a:off x="4934102" y="1435608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SOLUCIÓN</a:t>
            </a:r>
            <a:endParaRPr lang="en-US" sz="1100" dirty="0"/>
          </a:p>
        </p:txBody>
      </p:sp>
      <p:sp>
        <p:nvSpPr>
          <p:cNvPr id="18" name="Guía 3"/>
          <p:cNvSpPr txBox="1"/>
          <p:nvPr/>
        </p:nvSpPr>
        <p:spPr>
          <a:xfrm>
            <a:off x="4531766" y="1874520"/>
            <a:ext cx="1625803" cy="110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Una solución por cada problema del cuadro 2, con el mismo número.</a:t>
            </a:r>
            <a:endParaRPr lang="en-US" sz="1150" dirty="0"/>
          </a:p>
        </p:txBody>
      </p:sp>
      <p:sp>
        <p:nvSpPr>
          <p:cNvPr id="19" name="Cuadro 4 - Ventaja diferenciadora"/>
          <p:cNvSpPr/>
          <p:nvPr/>
        </p:nvSpPr>
        <p:spPr>
          <a:xfrm>
            <a:off x="4403750" y="3177540"/>
            <a:ext cx="1881835" cy="1760220"/>
          </a:xfrm>
          <a:prstGeom prst="roundRect">
            <a:avLst>
              <a:gd name="adj" fmla="val 4156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20" name="Número 4"/>
          <p:cNvSpPr/>
          <p:nvPr/>
        </p:nvSpPr>
        <p:spPr>
          <a:xfrm>
            <a:off x="4513478" y="32872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13478" y="3287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ítulo 4"/>
          <p:cNvSpPr txBox="1"/>
          <p:nvPr/>
        </p:nvSpPr>
        <p:spPr>
          <a:xfrm>
            <a:off x="4934102" y="3287268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VENTAJA DIFERENCIADORA</a:t>
            </a:r>
            <a:endParaRPr lang="en-US" sz="1100" dirty="0"/>
          </a:p>
        </p:txBody>
      </p:sp>
      <p:sp>
        <p:nvSpPr>
          <p:cNvPr id="23" name="Guía 4"/>
          <p:cNvSpPr txBox="1"/>
          <p:nvPr/>
        </p:nvSpPr>
        <p:spPr>
          <a:xfrm>
            <a:off x="4531766" y="3726180"/>
            <a:ext cx="1625803" cy="110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Qué hace mejor a esta propuesta.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chemeClr val="accent5"/>
                </a:solidFill>
              </a:rPr>
              <a:t>¿Por qué las otras opciones no son tan completas?</a:t>
            </a:r>
            <a:endParaRPr lang="en-US" sz="1150" dirty="0"/>
          </a:p>
        </p:txBody>
      </p:sp>
      <p:sp>
        <p:nvSpPr>
          <p:cNvPr id="24" name="Cuadro 5 - Propuesta de valor"/>
          <p:cNvSpPr/>
          <p:nvPr/>
        </p:nvSpPr>
        <p:spPr>
          <a:xfrm>
            <a:off x="6377026" y="1325880"/>
            <a:ext cx="1881835" cy="3611880"/>
          </a:xfrm>
          <a:prstGeom prst="roundRect">
            <a:avLst>
              <a:gd name="adj" fmla="val 3887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25" name="Número 5"/>
          <p:cNvSpPr/>
          <p:nvPr/>
        </p:nvSpPr>
        <p:spPr>
          <a:xfrm>
            <a:off x="6486754" y="14356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6754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ítulo 5"/>
          <p:cNvSpPr txBox="1"/>
          <p:nvPr/>
        </p:nvSpPr>
        <p:spPr>
          <a:xfrm>
            <a:off x="6907378" y="1435608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PROPUESTA DE VALOR</a:t>
            </a:r>
            <a:endParaRPr lang="en-US" sz="1100" dirty="0"/>
          </a:p>
        </p:txBody>
      </p:sp>
      <p:sp>
        <p:nvSpPr>
          <p:cNvPr id="28" name="Guía 5"/>
          <p:cNvSpPr txBox="1"/>
          <p:nvPr/>
        </p:nvSpPr>
        <p:spPr>
          <a:xfrm>
            <a:off x="6505042" y="1874520"/>
            <a:ext cx="1625803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Un mensaje simple, directo y claro que transmita por qué dirección debe comprar tu idea.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chemeClr val="accent5"/>
                </a:solidFill>
              </a:rPr>
              <a:t>Ejemplo: «Reducir a la mitad el tiempo de cambio sin comprar ninguna máquina».</a:t>
            </a:r>
            <a:endParaRPr lang="en-US" sz="1150" dirty="0"/>
          </a:p>
        </p:txBody>
      </p:sp>
      <p:sp>
        <p:nvSpPr>
          <p:cNvPr id="29" name="Cuadro 6 - Canales"/>
          <p:cNvSpPr/>
          <p:nvPr/>
        </p:nvSpPr>
        <p:spPr>
          <a:xfrm>
            <a:off x="8350301" y="1325880"/>
            <a:ext cx="1881835" cy="1760220"/>
          </a:xfrm>
          <a:prstGeom prst="roundRect">
            <a:avLst>
              <a:gd name="adj" fmla="val 4156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30" name="Número 6"/>
          <p:cNvSpPr/>
          <p:nvPr/>
        </p:nvSpPr>
        <p:spPr>
          <a:xfrm>
            <a:off x="8460029" y="14356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60029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ítulo 6"/>
          <p:cNvSpPr txBox="1"/>
          <p:nvPr/>
        </p:nvSpPr>
        <p:spPr>
          <a:xfrm>
            <a:off x="8880653" y="1435608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CANALES</a:t>
            </a:r>
            <a:endParaRPr lang="en-US" sz="1100" dirty="0"/>
          </a:p>
        </p:txBody>
      </p:sp>
      <p:sp>
        <p:nvSpPr>
          <p:cNvPr id="33" name="Guía 6"/>
          <p:cNvSpPr txBox="1"/>
          <p:nvPr/>
        </p:nvSpPr>
        <p:spPr>
          <a:xfrm>
            <a:off x="8478317" y="1874520"/>
            <a:ext cx="1625803" cy="110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Departamentos internos y proveedores implicados.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chemeClr val="accent5"/>
                </a:solidFill>
              </a:rPr>
              <a:t>¿A quién necesitas para sacarlo adelante?</a:t>
            </a:r>
            <a:endParaRPr lang="en-US" sz="1150" dirty="0"/>
          </a:p>
        </p:txBody>
      </p:sp>
      <p:sp>
        <p:nvSpPr>
          <p:cNvPr id="34" name="Cuadro 9 - Indicadores"/>
          <p:cNvSpPr/>
          <p:nvPr/>
        </p:nvSpPr>
        <p:spPr>
          <a:xfrm>
            <a:off x="8350301" y="3177540"/>
            <a:ext cx="1881835" cy="1760220"/>
          </a:xfrm>
          <a:prstGeom prst="roundRect">
            <a:avLst>
              <a:gd name="adj" fmla="val 4156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35" name="Número 9"/>
          <p:cNvSpPr/>
          <p:nvPr/>
        </p:nvSpPr>
        <p:spPr>
          <a:xfrm>
            <a:off x="8460029" y="32872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60029" y="3287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</a:t>
            </a:r>
            <a:endParaRPr lang="en-US" sz="1400" dirty="0"/>
          </a:p>
        </p:txBody>
      </p:sp>
      <p:sp>
        <p:nvSpPr>
          <p:cNvPr id="37" name="Título 9"/>
          <p:cNvSpPr txBox="1"/>
          <p:nvPr/>
        </p:nvSpPr>
        <p:spPr>
          <a:xfrm>
            <a:off x="8880653" y="3287268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INDICADORES</a:t>
            </a:r>
            <a:endParaRPr lang="en-US" sz="1100" dirty="0"/>
          </a:p>
        </p:txBody>
      </p:sp>
      <p:sp>
        <p:nvSpPr>
          <p:cNvPr id="38" name="Guía 9"/>
          <p:cNvSpPr txBox="1"/>
          <p:nvPr/>
        </p:nvSpPr>
        <p:spPr>
          <a:xfrm>
            <a:off x="8478317" y="3726180"/>
            <a:ext cx="1625803" cy="110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2 o 3 indicadores clave para medir el resultado, con su valor actual y el objetivo.</a:t>
            </a:r>
            <a:endParaRPr lang="en-US" sz="1150" dirty="0"/>
          </a:p>
        </p:txBody>
      </p:sp>
      <p:sp>
        <p:nvSpPr>
          <p:cNvPr id="39" name="Cuadro 7 - Estructura de costes"/>
          <p:cNvSpPr/>
          <p:nvPr/>
        </p:nvSpPr>
        <p:spPr>
          <a:xfrm>
            <a:off x="457200" y="5029200"/>
            <a:ext cx="4841748" cy="1600200"/>
          </a:xfrm>
          <a:prstGeom prst="roundRect">
            <a:avLst>
              <a:gd name="adj" fmla="val 4571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40" name="Número 7"/>
          <p:cNvSpPr/>
          <p:nvPr/>
        </p:nvSpPr>
        <p:spPr>
          <a:xfrm>
            <a:off x="566928" y="51389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66928" y="5138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ítulo 7"/>
          <p:cNvSpPr txBox="1"/>
          <p:nvPr/>
        </p:nvSpPr>
        <p:spPr>
          <a:xfrm>
            <a:off x="987552" y="5138928"/>
            <a:ext cx="4201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ESTRUCTURA DE COSTES</a:t>
            </a:r>
            <a:endParaRPr lang="en-US" sz="1100" dirty="0"/>
          </a:p>
        </p:txBody>
      </p:sp>
      <p:sp>
        <p:nvSpPr>
          <p:cNvPr id="43" name="Guía 7"/>
          <p:cNvSpPr txBox="1"/>
          <p:nvPr/>
        </p:nvSpPr>
        <p:spPr>
          <a:xfrm>
            <a:off x="585216" y="5577840"/>
            <a:ext cx="45857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Costes fijos y variables del proyecto: horas internas, compras, servicios externos y paradas necesarias.</a:t>
            </a:r>
            <a:endParaRPr lang="en-US" sz="1150" dirty="0"/>
          </a:p>
        </p:txBody>
      </p:sp>
      <p:sp>
        <p:nvSpPr>
          <p:cNvPr id="44" name="Cuadro 8 - Flujo de ingresos"/>
          <p:cNvSpPr/>
          <p:nvPr/>
        </p:nvSpPr>
        <p:spPr>
          <a:xfrm>
            <a:off x="5390388" y="5029200"/>
            <a:ext cx="4841748" cy="1600200"/>
          </a:xfrm>
          <a:prstGeom prst="roundRect">
            <a:avLst>
              <a:gd name="adj" fmla="val 4571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45" name="Número 8"/>
          <p:cNvSpPr/>
          <p:nvPr/>
        </p:nvSpPr>
        <p:spPr>
          <a:xfrm>
            <a:off x="5500116" y="51389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500116" y="5138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47" name="Título 8"/>
          <p:cNvSpPr txBox="1"/>
          <p:nvPr/>
        </p:nvSpPr>
        <p:spPr>
          <a:xfrm>
            <a:off x="5920740" y="5138928"/>
            <a:ext cx="4201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FLUJO DE INGRESOS</a:t>
            </a:r>
            <a:endParaRPr lang="en-US" sz="1100" dirty="0"/>
          </a:p>
        </p:txBody>
      </p:sp>
      <p:sp>
        <p:nvSpPr>
          <p:cNvPr id="48" name="Guía 8"/>
          <p:cNvSpPr txBox="1"/>
          <p:nvPr/>
        </p:nvSpPr>
        <p:spPr>
          <a:xfrm>
            <a:off x="5518404" y="5577840"/>
            <a:ext cx="45857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Cómo vamos a ahorrar dinero, en euros al año. Si es una estimación, indícalo.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chemeClr val="accent5"/>
                </a:solidFill>
              </a:rPr>
              <a:t>Compáralo con el cuadro 7: ¿en cuántos meses se paga solo?</a:t>
            </a:r>
            <a:endParaRPr lang="en-US" sz="1150" dirty="0"/>
          </a:p>
        </p:txBody>
      </p:sp>
      <p:sp>
        <p:nvSpPr>
          <p:cNvPr id="49" name="Consejo"/>
          <p:cNvSpPr txBox="1"/>
          <p:nvPr/>
        </p:nvSpPr>
        <p:spPr>
          <a:xfrm>
            <a:off x="457200" y="68762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Consejo: si no cabe en su cuadro, todavía no está claro. Resume.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384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Lienzo de Proyecto Lean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3474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Proyecto</a:t>
            </a:r>
            <a:endParaRPr lang="en-US" sz="1000" dirty="0"/>
          </a:p>
        </p:txBody>
      </p:sp>
      <p:sp>
        <p:nvSpPr>
          <p:cNvPr id="4" name="Campo Proyecto"/>
          <p:cNvSpPr txBox="1"/>
          <p:nvPr/>
        </p:nvSpPr>
        <p:spPr>
          <a:xfrm>
            <a:off x="6812280" y="34747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12280" y="640080"/>
            <a:ext cx="3419856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7863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</p:txBody>
      </p:sp>
      <p:sp>
        <p:nvSpPr>
          <p:cNvPr id="7" name="Campo Responsable"/>
          <p:cNvSpPr txBox="1"/>
          <p:nvPr/>
        </p:nvSpPr>
        <p:spPr>
          <a:xfrm>
            <a:off x="6812280" y="786384"/>
            <a:ext cx="1576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12280" y="1078992"/>
            <a:ext cx="1576426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71586" y="7863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Fecha</a:t>
            </a:r>
            <a:endParaRPr lang="en-US" sz="1000" dirty="0"/>
          </a:p>
        </p:txBody>
      </p:sp>
      <p:sp>
        <p:nvSpPr>
          <p:cNvPr id="10" name="Campo Fecha"/>
          <p:cNvSpPr txBox="1"/>
          <p:nvPr/>
        </p:nvSpPr>
        <p:spPr>
          <a:xfrm>
            <a:off x="9531706" y="786384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31706" y="1078992"/>
            <a:ext cx="70043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2" name="Cuadro 1 - Área analizada"/>
          <p:cNvSpPr/>
          <p:nvPr/>
        </p:nvSpPr>
        <p:spPr>
          <a:xfrm>
            <a:off x="457200" y="1325880"/>
            <a:ext cx="1881835" cy="3611880"/>
          </a:xfrm>
          <a:prstGeom prst="roundRect">
            <a:avLst>
              <a:gd name="adj" fmla="val 3887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13" name="Número 1"/>
          <p:cNvSpPr/>
          <p:nvPr/>
        </p:nvSpPr>
        <p:spPr>
          <a:xfrm>
            <a:off x="566928" y="143560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ítulo 1"/>
          <p:cNvSpPr txBox="1"/>
          <p:nvPr/>
        </p:nvSpPr>
        <p:spPr>
          <a:xfrm>
            <a:off x="932688" y="1435608"/>
            <a:ext cx="1296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ÁREA ANALIZADA</a:t>
            </a:r>
            <a:endParaRPr lang="en-US" sz="1100" dirty="0"/>
          </a:p>
        </p:txBody>
      </p:sp>
      <p:sp>
        <p:nvSpPr>
          <p:cNvPr id="16" name="Escribe aquí 1"/>
          <p:cNvSpPr txBox="1"/>
          <p:nvPr/>
        </p:nvSpPr>
        <p:spPr>
          <a:xfrm>
            <a:off x="585216" y="1819656"/>
            <a:ext cx="1625803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Cuadro 2 - Problema"/>
          <p:cNvSpPr/>
          <p:nvPr/>
        </p:nvSpPr>
        <p:spPr>
          <a:xfrm>
            <a:off x="2430475" y="1325880"/>
            <a:ext cx="1881835" cy="3611880"/>
          </a:xfrm>
          <a:prstGeom prst="roundRect">
            <a:avLst>
              <a:gd name="adj" fmla="val 3887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18" name="Número 2"/>
          <p:cNvSpPr/>
          <p:nvPr/>
        </p:nvSpPr>
        <p:spPr>
          <a:xfrm>
            <a:off x="2540203" y="143560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540203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ítulo 2"/>
          <p:cNvSpPr txBox="1"/>
          <p:nvPr/>
        </p:nvSpPr>
        <p:spPr>
          <a:xfrm>
            <a:off x="2905963" y="1435608"/>
            <a:ext cx="1296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PROBLEMA</a:t>
            </a:r>
            <a:endParaRPr lang="en-US" sz="1100" dirty="0"/>
          </a:p>
        </p:txBody>
      </p:sp>
      <p:sp>
        <p:nvSpPr>
          <p:cNvPr id="21" name="Escribe aquí 2"/>
          <p:cNvSpPr txBox="1"/>
          <p:nvPr/>
        </p:nvSpPr>
        <p:spPr>
          <a:xfrm>
            <a:off x="2558491" y="1819656"/>
            <a:ext cx="1625803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2" name="Cuadro 3 - Solución"/>
          <p:cNvSpPr/>
          <p:nvPr/>
        </p:nvSpPr>
        <p:spPr>
          <a:xfrm>
            <a:off x="4403750" y="1325880"/>
            <a:ext cx="1881835" cy="1760220"/>
          </a:xfrm>
          <a:prstGeom prst="roundRect">
            <a:avLst>
              <a:gd name="adj" fmla="val 4156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23" name="Número 3"/>
          <p:cNvSpPr/>
          <p:nvPr/>
        </p:nvSpPr>
        <p:spPr>
          <a:xfrm>
            <a:off x="4513478" y="143560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1347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ítulo 3"/>
          <p:cNvSpPr txBox="1"/>
          <p:nvPr/>
        </p:nvSpPr>
        <p:spPr>
          <a:xfrm>
            <a:off x="4879238" y="1435608"/>
            <a:ext cx="1296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SOLUCIÓN</a:t>
            </a:r>
            <a:endParaRPr lang="en-US" sz="1100" dirty="0"/>
          </a:p>
        </p:txBody>
      </p:sp>
      <p:sp>
        <p:nvSpPr>
          <p:cNvPr id="26" name="Escribe aquí 3"/>
          <p:cNvSpPr txBox="1"/>
          <p:nvPr/>
        </p:nvSpPr>
        <p:spPr>
          <a:xfrm>
            <a:off x="4531766" y="1819656"/>
            <a:ext cx="1625803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Cuadro 4 - Ventaja diferenciadora"/>
          <p:cNvSpPr/>
          <p:nvPr/>
        </p:nvSpPr>
        <p:spPr>
          <a:xfrm>
            <a:off x="4403750" y="3177540"/>
            <a:ext cx="1881835" cy="1760220"/>
          </a:xfrm>
          <a:prstGeom prst="roundRect">
            <a:avLst>
              <a:gd name="adj" fmla="val 4156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28" name="Número 4"/>
          <p:cNvSpPr/>
          <p:nvPr/>
        </p:nvSpPr>
        <p:spPr>
          <a:xfrm>
            <a:off x="4513478" y="328726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13478" y="32872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ítulo 4"/>
          <p:cNvSpPr txBox="1"/>
          <p:nvPr/>
        </p:nvSpPr>
        <p:spPr>
          <a:xfrm>
            <a:off x="4879238" y="3287268"/>
            <a:ext cx="1296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VENTAJA DIFERENCIADORA</a:t>
            </a:r>
            <a:endParaRPr lang="en-US" sz="1100" dirty="0"/>
          </a:p>
        </p:txBody>
      </p:sp>
      <p:sp>
        <p:nvSpPr>
          <p:cNvPr id="31" name="Escribe aquí 4"/>
          <p:cNvSpPr txBox="1"/>
          <p:nvPr/>
        </p:nvSpPr>
        <p:spPr>
          <a:xfrm>
            <a:off x="4531766" y="3671316"/>
            <a:ext cx="1625803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2" name="Cuadro 5 - Propuesta de valor"/>
          <p:cNvSpPr/>
          <p:nvPr/>
        </p:nvSpPr>
        <p:spPr>
          <a:xfrm>
            <a:off x="6377026" y="1325880"/>
            <a:ext cx="1881835" cy="3611880"/>
          </a:xfrm>
          <a:prstGeom prst="roundRect">
            <a:avLst>
              <a:gd name="adj" fmla="val 3887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33" name="Número 5"/>
          <p:cNvSpPr/>
          <p:nvPr/>
        </p:nvSpPr>
        <p:spPr>
          <a:xfrm>
            <a:off x="6486754" y="143560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86754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ítulo 5"/>
          <p:cNvSpPr txBox="1"/>
          <p:nvPr/>
        </p:nvSpPr>
        <p:spPr>
          <a:xfrm>
            <a:off x="6852514" y="1435608"/>
            <a:ext cx="1296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PROPUESTA DE VALOR</a:t>
            </a:r>
            <a:endParaRPr lang="en-US" sz="1100" dirty="0"/>
          </a:p>
        </p:txBody>
      </p:sp>
      <p:sp>
        <p:nvSpPr>
          <p:cNvPr id="36" name="Escribe aquí 5"/>
          <p:cNvSpPr txBox="1"/>
          <p:nvPr/>
        </p:nvSpPr>
        <p:spPr>
          <a:xfrm>
            <a:off x="6505042" y="1819656"/>
            <a:ext cx="1625803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Cuadro 6 - Canales"/>
          <p:cNvSpPr/>
          <p:nvPr/>
        </p:nvSpPr>
        <p:spPr>
          <a:xfrm>
            <a:off x="8350301" y="1325880"/>
            <a:ext cx="1881835" cy="1760220"/>
          </a:xfrm>
          <a:prstGeom prst="roundRect">
            <a:avLst>
              <a:gd name="adj" fmla="val 4156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38" name="Número 6"/>
          <p:cNvSpPr/>
          <p:nvPr/>
        </p:nvSpPr>
        <p:spPr>
          <a:xfrm>
            <a:off x="8460029" y="143560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460029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40" name="Título 6"/>
          <p:cNvSpPr txBox="1"/>
          <p:nvPr/>
        </p:nvSpPr>
        <p:spPr>
          <a:xfrm>
            <a:off x="8825789" y="1435608"/>
            <a:ext cx="1296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CANALES</a:t>
            </a:r>
            <a:endParaRPr lang="en-US" sz="1100" dirty="0"/>
          </a:p>
        </p:txBody>
      </p:sp>
      <p:sp>
        <p:nvSpPr>
          <p:cNvPr id="41" name="Escribe aquí 6"/>
          <p:cNvSpPr txBox="1"/>
          <p:nvPr/>
        </p:nvSpPr>
        <p:spPr>
          <a:xfrm>
            <a:off x="8478317" y="1819656"/>
            <a:ext cx="1625803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2" name="Cuadro 9 - Indicadores"/>
          <p:cNvSpPr/>
          <p:nvPr/>
        </p:nvSpPr>
        <p:spPr>
          <a:xfrm>
            <a:off x="8350301" y="3177540"/>
            <a:ext cx="1881835" cy="1760220"/>
          </a:xfrm>
          <a:prstGeom prst="roundRect">
            <a:avLst>
              <a:gd name="adj" fmla="val 4156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43" name="Número 9"/>
          <p:cNvSpPr/>
          <p:nvPr/>
        </p:nvSpPr>
        <p:spPr>
          <a:xfrm>
            <a:off x="8460029" y="328726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460029" y="32872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45" name="Título 9"/>
          <p:cNvSpPr txBox="1"/>
          <p:nvPr/>
        </p:nvSpPr>
        <p:spPr>
          <a:xfrm>
            <a:off x="8825789" y="3287268"/>
            <a:ext cx="1296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INDICADORES</a:t>
            </a:r>
            <a:endParaRPr lang="en-US" sz="1100" dirty="0"/>
          </a:p>
        </p:txBody>
      </p:sp>
      <p:sp>
        <p:nvSpPr>
          <p:cNvPr id="46" name="Escribe aquí 9"/>
          <p:cNvSpPr txBox="1"/>
          <p:nvPr/>
        </p:nvSpPr>
        <p:spPr>
          <a:xfrm>
            <a:off x="8478317" y="3671316"/>
            <a:ext cx="1625803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7" name="Cuadro 7 - Estructura de costes"/>
          <p:cNvSpPr/>
          <p:nvPr/>
        </p:nvSpPr>
        <p:spPr>
          <a:xfrm>
            <a:off x="457200" y="5029200"/>
            <a:ext cx="4841748" cy="1600200"/>
          </a:xfrm>
          <a:prstGeom prst="roundRect">
            <a:avLst>
              <a:gd name="adj" fmla="val 4571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48" name="Número 7"/>
          <p:cNvSpPr/>
          <p:nvPr/>
        </p:nvSpPr>
        <p:spPr>
          <a:xfrm>
            <a:off x="566928" y="513892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66928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50" name="Título 7"/>
          <p:cNvSpPr txBox="1"/>
          <p:nvPr/>
        </p:nvSpPr>
        <p:spPr>
          <a:xfrm>
            <a:off x="932688" y="5138928"/>
            <a:ext cx="4256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ESTRUCTURA DE COSTES</a:t>
            </a:r>
            <a:endParaRPr lang="en-US" sz="1100" dirty="0"/>
          </a:p>
        </p:txBody>
      </p:sp>
      <p:sp>
        <p:nvSpPr>
          <p:cNvPr id="51" name="Escribe aquí 7"/>
          <p:cNvSpPr txBox="1"/>
          <p:nvPr/>
        </p:nvSpPr>
        <p:spPr>
          <a:xfrm>
            <a:off x="585216" y="5522976"/>
            <a:ext cx="458571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2" name="Cuadro 8 - Flujo de ingresos"/>
          <p:cNvSpPr/>
          <p:nvPr/>
        </p:nvSpPr>
        <p:spPr>
          <a:xfrm>
            <a:off x="5390388" y="5029200"/>
            <a:ext cx="4841748" cy="1600200"/>
          </a:xfrm>
          <a:prstGeom prst="roundRect">
            <a:avLst>
              <a:gd name="adj" fmla="val 4571"/>
            </a:avLst>
          </a:prstGeom>
          <a:ln w="15875">
            <a:solidFill>
              <a:schemeClr val="tx2"/>
            </a:solidFill>
            <a:prstDash val="solid"/>
          </a:ln>
        </p:spPr>
      </p:sp>
      <p:sp>
        <p:nvSpPr>
          <p:cNvPr id="53" name="Número 8"/>
          <p:cNvSpPr/>
          <p:nvPr/>
        </p:nvSpPr>
        <p:spPr>
          <a:xfrm>
            <a:off x="5500116" y="513892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500116" y="5138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55" name="Título 8"/>
          <p:cNvSpPr txBox="1"/>
          <p:nvPr/>
        </p:nvSpPr>
        <p:spPr>
          <a:xfrm>
            <a:off x="5865876" y="5138928"/>
            <a:ext cx="4256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chemeClr val="tx2"/>
                </a:solidFill>
              </a:rPr>
              <a:t>FLUJO DE INGRESOS</a:t>
            </a:r>
            <a:endParaRPr lang="en-US" sz="1100" dirty="0"/>
          </a:p>
        </p:txBody>
      </p:sp>
      <p:sp>
        <p:nvSpPr>
          <p:cNvPr id="56" name="Escribe aquí 8"/>
          <p:cNvSpPr txBox="1"/>
          <p:nvPr/>
        </p:nvSpPr>
        <p:spPr>
          <a:xfrm>
            <a:off x="5518404" y="5522976"/>
            <a:ext cx="458571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genio Lean">
  <a:themeElements>
    <a:clrScheme name="Ingenio Lean">
      <a:dk1>
        <a:srgbClr val="1D3549"/>
      </a:dk1>
      <a:lt1>
        <a:srgbClr val="FFFFFF"/>
      </a:lt1>
      <a:dk2>
        <a:srgbClr val="2F5472"/>
      </a:dk2>
      <a:lt2>
        <a:srgbClr val="F2EFE1"/>
      </a:lt2>
      <a:accent1>
        <a:srgbClr val="E0BA5B"/>
      </a:accent1>
      <a:accent2>
        <a:srgbClr val="6E7E8C"/>
      </a:accent2>
      <a:accent3>
        <a:srgbClr val="F1DFAE"/>
      </a:accent3>
      <a:accent4>
        <a:srgbClr val="3D7A5C"/>
      </a:accent4>
      <a:accent5>
        <a:srgbClr val="3F5568"/>
      </a:accent5>
      <a:accent6>
        <a:srgbClr val="E7E2CD"/>
      </a:accent6>
      <a:hlink>
        <a:srgbClr val="2F5472"/>
      </a:hlink>
      <a:folHlink>
        <a:srgbClr val="3F5568"/>
      </a:folHlink>
    </a:clrScheme>
    <a:fontScheme name="Ingenio Lea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Ingenio Lean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Lienzo de Proyecto Lean</dc:title>
  <dc:subject>PptxGenJS Presentation</dc:subject>
  <dc:creator>Ingenio Lean</dc:creator>
  <cp:lastModifiedBy>Ingenio Lean</cp:lastModifiedBy>
  <cp:revision>1</cp:revision>
  <dcterms:created xsi:type="dcterms:W3CDTF">2026-10-22T04:59:51Z</dcterms:created>
  <dcterms:modified xsi:type="dcterms:W3CDTF">2026-10-22T04:59:51Z</dcterms:modified>
</cp:coreProperties>
</file>